
<file path=[Content_Types].xml><?xml version="1.0" encoding="utf-8"?>
<Types xmlns="http://schemas.openxmlformats.org/package/2006/content-types">
  <Default Extension="png" ContentType="image/png"/>
  <Default Extension="wmf" ContentType="image/x-w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59" r:id="rId8"/>
  </p:sldIdLst>
  <p:sldSz cx="12192000" cy="6858000"/>
  <p:notesSz cx="7099300" cy="10234613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25" d="100"/>
          <a:sy n="125" d="100"/>
        </p:scale>
        <p:origin x="72" y="-18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Modifier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4C272-3672-43E7-9A16-0CD0E3690E2B}" type="datetimeFigureOut">
              <a:rPr lang="fr-FR" smtClean="0"/>
              <a:t>09/11/2025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F92F8-11FB-4FA7-9EDD-8B5F752E53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48643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4C272-3672-43E7-9A16-0CD0E3690E2B}" type="datetimeFigureOut">
              <a:rPr lang="fr-FR" smtClean="0"/>
              <a:t>09/11/2025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F92F8-11FB-4FA7-9EDD-8B5F752E53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383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4C272-3672-43E7-9A16-0CD0E3690E2B}" type="datetimeFigureOut">
              <a:rPr lang="fr-FR" smtClean="0"/>
              <a:t>09/11/2025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F92F8-11FB-4FA7-9EDD-8B5F752E53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2846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4C272-3672-43E7-9A16-0CD0E3690E2B}" type="datetimeFigureOut">
              <a:rPr lang="fr-FR" smtClean="0"/>
              <a:t>09/11/2025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F92F8-11FB-4FA7-9EDD-8B5F752E53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518990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4C272-3672-43E7-9A16-0CD0E3690E2B}" type="datetimeFigureOut">
              <a:rPr lang="fr-FR" smtClean="0"/>
              <a:t>09/11/2025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F92F8-11FB-4FA7-9EDD-8B5F752E53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46062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4C272-3672-43E7-9A16-0CD0E3690E2B}" type="datetimeFigureOut">
              <a:rPr lang="fr-FR" smtClean="0"/>
              <a:t>09/11/2025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F92F8-11FB-4FA7-9EDD-8B5F752E53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818653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4C272-3672-43E7-9A16-0CD0E3690E2B}" type="datetimeFigureOut">
              <a:rPr lang="fr-FR" smtClean="0"/>
              <a:t>09/11/2025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F92F8-11FB-4FA7-9EDD-8B5F752E53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98140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4C272-3672-43E7-9A16-0CD0E3690E2B}" type="datetimeFigureOut">
              <a:rPr lang="fr-FR" smtClean="0"/>
              <a:t>09/11/2025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F92F8-11FB-4FA7-9EDD-8B5F752E53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726581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4C272-3672-43E7-9A16-0CD0E3690E2B}" type="datetimeFigureOut">
              <a:rPr lang="fr-FR" smtClean="0"/>
              <a:t>09/11/2025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F92F8-11FB-4FA7-9EDD-8B5F752E53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81253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4C272-3672-43E7-9A16-0CD0E3690E2B}" type="datetimeFigureOut">
              <a:rPr lang="fr-FR" smtClean="0"/>
              <a:t>09/11/2025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F92F8-11FB-4FA7-9EDD-8B5F752E53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84888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4C272-3672-43E7-9A16-0CD0E3690E2B}" type="datetimeFigureOut">
              <a:rPr lang="fr-FR" smtClean="0"/>
              <a:t>09/11/2025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F92F8-11FB-4FA7-9EDD-8B5F752E53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3718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B4C272-3672-43E7-9A16-0CD0E3690E2B}" type="datetimeFigureOut">
              <a:rPr lang="fr-FR" smtClean="0"/>
              <a:t>09/11/2025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6F92F8-11FB-4FA7-9EDD-8B5F752E53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8750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7" name="Groupe 1026"/>
          <p:cNvGrpSpPr/>
          <p:nvPr/>
        </p:nvGrpSpPr>
        <p:grpSpPr>
          <a:xfrm>
            <a:off x="9264770" y="1500996"/>
            <a:ext cx="1388853" cy="1181819"/>
            <a:chOff x="9264770" y="1500996"/>
            <a:chExt cx="1388853" cy="1181819"/>
          </a:xfrm>
        </p:grpSpPr>
        <p:sp>
          <p:nvSpPr>
            <p:cNvPr id="8" name="Ellipse 7"/>
            <p:cNvSpPr/>
            <p:nvPr/>
          </p:nvSpPr>
          <p:spPr>
            <a:xfrm>
              <a:off x="9264770" y="2303253"/>
              <a:ext cx="379562" cy="37956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Ellipse 9"/>
            <p:cNvSpPr/>
            <p:nvPr/>
          </p:nvSpPr>
          <p:spPr>
            <a:xfrm>
              <a:off x="9849449" y="2303253"/>
              <a:ext cx="379562" cy="37956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1" name="Connecteur droit avec flèche 10"/>
            <p:cNvCxnSpPr/>
            <p:nvPr/>
          </p:nvCxnSpPr>
          <p:spPr>
            <a:xfrm flipV="1">
              <a:off x="9454551" y="2493034"/>
              <a:ext cx="1199072" cy="862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avec flèche 13"/>
            <p:cNvCxnSpPr/>
            <p:nvPr/>
          </p:nvCxnSpPr>
          <p:spPr>
            <a:xfrm flipV="1">
              <a:off x="9454551" y="1500996"/>
              <a:ext cx="0" cy="100066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25" name="Picture 1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3305" y="664234"/>
            <a:ext cx="5353050" cy="2371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6" name="Tableau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5607847"/>
              </p:ext>
            </p:extLst>
          </p:nvPr>
        </p:nvGraphicFramePr>
        <p:xfrm>
          <a:off x="2027267" y="3462866"/>
          <a:ext cx="5585125" cy="28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5389">
                  <a:extLst>
                    <a:ext uri="{9D8B030D-6E8A-4147-A177-3AD203B41FA5}">
                      <a16:colId xmlns:a16="http://schemas.microsoft.com/office/drawing/2014/main" val="2687620292"/>
                    </a:ext>
                  </a:extLst>
                </a:gridCol>
                <a:gridCol w="2199736">
                  <a:extLst>
                    <a:ext uri="{9D8B030D-6E8A-4147-A177-3AD203B41FA5}">
                      <a16:colId xmlns:a16="http://schemas.microsoft.com/office/drawing/2014/main" val="40355721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 smtClean="0"/>
                        <a:t>Sollicitation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 smtClean="0"/>
                        <a:t>Addition / soustraction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57847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Sigma z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 smtClean="0"/>
                        <a:t>+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49544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Sigma</a:t>
                      </a:r>
                      <a:r>
                        <a:rPr lang="fr-FR" baseline="0" dirty="0" smtClean="0"/>
                        <a:t> r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 smtClean="0"/>
                        <a:t>-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2821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Sigma</a:t>
                      </a:r>
                      <a:r>
                        <a:rPr lang="fr-FR" baseline="0" dirty="0" smtClean="0"/>
                        <a:t> t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 smtClean="0"/>
                        <a:t>+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7182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Tau </a:t>
                      </a:r>
                      <a:r>
                        <a:rPr lang="fr-FR" dirty="0" err="1" smtClean="0"/>
                        <a:t>rz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 smtClean="0"/>
                        <a:t>+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77908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W (déplacement</a:t>
                      </a:r>
                      <a:r>
                        <a:rPr lang="fr-FR" baseline="0" dirty="0" smtClean="0"/>
                        <a:t> vertical)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 smtClean="0"/>
                        <a:t>+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2418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U (déplacement radial)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 smtClean="0"/>
                        <a:t>-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8410571"/>
                  </a:ext>
                </a:extLst>
              </a:tr>
            </a:tbl>
          </a:graphicData>
        </a:graphic>
      </p:graphicFrame>
      <p:sp>
        <p:nvSpPr>
          <p:cNvPr id="19" name="Flèche droite 18"/>
          <p:cNvSpPr/>
          <p:nvPr/>
        </p:nvSpPr>
        <p:spPr>
          <a:xfrm rot="16200000">
            <a:off x="9302572" y="1067137"/>
            <a:ext cx="955615" cy="232913"/>
          </a:xfrm>
          <a:prstGeom prst="rightArrow">
            <a:avLst>
              <a:gd name="adj1" fmla="val 13265"/>
              <a:gd name="adj2" fmla="val 106271"/>
            </a:avLst>
          </a:prstGeom>
          <a:solidFill>
            <a:srgbClr val="FFC000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026" name="Groupe 1025"/>
          <p:cNvGrpSpPr/>
          <p:nvPr/>
        </p:nvGrpSpPr>
        <p:grpSpPr>
          <a:xfrm>
            <a:off x="8510347" y="1751745"/>
            <a:ext cx="2014688" cy="1374558"/>
            <a:chOff x="6745975" y="1432464"/>
            <a:chExt cx="2014688" cy="1374558"/>
          </a:xfrm>
        </p:grpSpPr>
        <p:cxnSp>
          <p:nvCxnSpPr>
            <p:cNvPr id="29" name="Connecteur droit 28"/>
            <p:cNvCxnSpPr/>
            <p:nvPr/>
          </p:nvCxnSpPr>
          <p:spPr>
            <a:xfrm flipV="1">
              <a:off x="6745975" y="2177455"/>
              <a:ext cx="1958077" cy="1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7" name="Groupe 26"/>
            <p:cNvGrpSpPr/>
            <p:nvPr/>
          </p:nvGrpSpPr>
          <p:grpSpPr>
            <a:xfrm>
              <a:off x="8007769" y="1667752"/>
              <a:ext cx="752894" cy="641852"/>
              <a:chOff x="8098467" y="1573098"/>
              <a:chExt cx="752894" cy="641852"/>
            </a:xfrm>
          </p:grpSpPr>
          <p:cxnSp>
            <p:nvCxnSpPr>
              <p:cNvPr id="21" name="Connecteur droit avec flèche 20"/>
              <p:cNvCxnSpPr/>
              <p:nvPr/>
            </p:nvCxnSpPr>
            <p:spPr>
              <a:xfrm flipH="1" flipV="1">
                <a:off x="8286211" y="1856447"/>
                <a:ext cx="6350" cy="220004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Connecteur droit avec flèche 22"/>
              <p:cNvCxnSpPr/>
              <p:nvPr/>
            </p:nvCxnSpPr>
            <p:spPr>
              <a:xfrm>
                <a:off x="8292561" y="2082801"/>
                <a:ext cx="212306" cy="0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ZoneTexte 23"/>
              <p:cNvSpPr txBox="1"/>
              <p:nvPr/>
            </p:nvSpPr>
            <p:spPr>
              <a:xfrm>
                <a:off x="8098467" y="1573098"/>
                <a:ext cx="40640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200" dirty="0" smtClean="0">
                    <a:solidFill>
                      <a:srgbClr val="FF0000"/>
                    </a:solidFill>
                    <a:latin typeface="Symbol" panose="05050102010706020507" pitchFamily="18" charset="2"/>
                  </a:rPr>
                  <a:t>s</a:t>
                </a:r>
                <a:r>
                  <a:rPr lang="fr-FR" sz="1200" dirty="0" smtClean="0">
                    <a:solidFill>
                      <a:srgbClr val="FF0000"/>
                    </a:solidFill>
                  </a:rPr>
                  <a:t>t</a:t>
                </a:r>
                <a:endParaRPr lang="fr-FR" sz="1200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26" name="ZoneTexte 25"/>
              <p:cNvSpPr txBox="1"/>
              <p:nvPr/>
            </p:nvSpPr>
            <p:spPr>
              <a:xfrm>
                <a:off x="8444961" y="1937951"/>
                <a:ext cx="40640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200" dirty="0" smtClean="0">
                    <a:solidFill>
                      <a:srgbClr val="FF0000"/>
                    </a:solidFill>
                    <a:latin typeface="Symbol" panose="05050102010706020507" pitchFamily="18" charset="2"/>
                  </a:rPr>
                  <a:t>s</a:t>
                </a:r>
                <a:r>
                  <a:rPr lang="fr-FR" sz="1200" dirty="0">
                    <a:solidFill>
                      <a:srgbClr val="FF0000"/>
                    </a:solidFill>
                  </a:rPr>
                  <a:t>r</a:t>
                </a:r>
              </a:p>
            </p:txBody>
          </p:sp>
        </p:grpSp>
        <p:sp>
          <p:nvSpPr>
            <p:cNvPr id="25" name="Ellipse 24"/>
            <p:cNvSpPr/>
            <p:nvPr/>
          </p:nvSpPr>
          <p:spPr>
            <a:xfrm>
              <a:off x="7185923" y="1673764"/>
              <a:ext cx="1009051" cy="1009051"/>
            </a:xfrm>
            <a:prstGeom prst="ellipse">
              <a:avLst/>
            </a:prstGeom>
            <a:noFill/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31" name="Connecteur droit 30"/>
            <p:cNvCxnSpPr/>
            <p:nvPr/>
          </p:nvCxnSpPr>
          <p:spPr>
            <a:xfrm flipV="1">
              <a:off x="7686135" y="1432464"/>
              <a:ext cx="4313" cy="1374558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71601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976" y="1234191"/>
            <a:ext cx="5555461" cy="1996613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>
            <a:off x="758757" y="544749"/>
            <a:ext cx="1682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chemeClr val="accent6">
                    <a:lumMod val="75000"/>
                  </a:schemeClr>
                </a:solidFill>
                <a:latin typeface="Maison Neue" panose="02000000000000000000" pitchFamily="2" charset="0"/>
              </a:rPr>
              <a:t>Equation B.11</a:t>
            </a:r>
            <a:endParaRPr lang="fr-FR" dirty="0">
              <a:solidFill>
                <a:schemeClr val="accent6">
                  <a:lumMod val="75000"/>
                </a:schemeClr>
              </a:solidFill>
              <a:latin typeface="Maison Neue" panose="02000000000000000000" pitchFamily="2" charset="0"/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475" y="4366990"/>
            <a:ext cx="4953429" cy="1859441"/>
          </a:xfrm>
          <a:prstGeom prst="rect">
            <a:avLst/>
          </a:prstGeom>
        </p:spPr>
      </p:pic>
      <p:sp>
        <p:nvSpPr>
          <p:cNvPr id="22" name="ZoneTexte 21"/>
          <p:cNvSpPr txBox="1"/>
          <p:nvPr/>
        </p:nvSpPr>
        <p:spPr>
          <a:xfrm>
            <a:off x="758757" y="3683540"/>
            <a:ext cx="1682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chemeClr val="accent6">
                    <a:lumMod val="75000"/>
                  </a:schemeClr>
                </a:solidFill>
                <a:latin typeface="Maison Neue" panose="02000000000000000000" pitchFamily="2" charset="0"/>
              </a:rPr>
              <a:t>Equation B.17</a:t>
            </a:r>
            <a:endParaRPr lang="fr-FR" dirty="0">
              <a:solidFill>
                <a:schemeClr val="accent6">
                  <a:lumMod val="75000"/>
                </a:schemeClr>
              </a:solidFill>
              <a:latin typeface="Maison Neue" panose="02000000000000000000" pitchFamily="2" charset="0"/>
            </a:endParaRP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7533" y="3106986"/>
            <a:ext cx="4823878" cy="1295512"/>
          </a:xfrm>
          <a:prstGeom prst="rect">
            <a:avLst/>
          </a:prstGeom>
        </p:spPr>
      </p:pic>
      <p:pic>
        <p:nvPicPr>
          <p:cNvPr id="7" name="Imag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5335" y="5064822"/>
            <a:ext cx="3246401" cy="1066892"/>
          </a:xfrm>
          <a:prstGeom prst="rect">
            <a:avLst/>
          </a:prstGeom>
        </p:spPr>
      </p:pic>
      <p:pic>
        <p:nvPicPr>
          <p:cNvPr id="9" name="Imag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7533" y="1256204"/>
            <a:ext cx="3010161" cy="952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43312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123" y="564376"/>
            <a:ext cx="5044877" cy="3436918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4966" y="4136231"/>
            <a:ext cx="4717189" cy="701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596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/>
          <p:cNvSpPr txBox="1"/>
          <p:nvPr/>
        </p:nvSpPr>
        <p:spPr>
          <a:xfrm>
            <a:off x="758756" y="544749"/>
            <a:ext cx="3167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chemeClr val="accent6">
                    <a:lumMod val="75000"/>
                  </a:schemeClr>
                </a:solidFill>
                <a:latin typeface="Maison Neue" panose="02000000000000000000" pitchFamily="2" charset="0"/>
              </a:rPr>
              <a:t>Structures bitumineuses</a:t>
            </a:r>
            <a:endParaRPr lang="fr-FR" dirty="0">
              <a:solidFill>
                <a:schemeClr val="accent6">
                  <a:lumMod val="75000"/>
                </a:schemeClr>
              </a:solidFill>
              <a:latin typeface="Maison Neue" panose="02000000000000000000" pitchFamily="2" charset="0"/>
            </a:endParaRPr>
          </a:p>
        </p:txBody>
      </p:sp>
      <p:grpSp>
        <p:nvGrpSpPr>
          <p:cNvPr id="7" name="Groupe 6"/>
          <p:cNvGrpSpPr/>
          <p:nvPr/>
        </p:nvGrpSpPr>
        <p:grpSpPr>
          <a:xfrm>
            <a:off x="665227" y="1054609"/>
            <a:ext cx="5430774" cy="1735072"/>
            <a:chOff x="595145" y="1487424"/>
            <a:chExt cx="7204665" cy="2356865"/>
          </a:xfrm>
        </p:grpSpPr>
        <p:pic>
          <p:nvPicPr>
            <p:cNvPr id="5" name="Image 4"/>
            <p:cNvPicPr>
              <a:picLocks noChangeAspect="1"/>
            </p:cNvPicPr>
            <p:nvPr/>
          </p:nvPicPr>
          <p:blipFill rotWithShape="1">
            <a:blip r:embed="rId2"/>
            <a:srcRect t="22309"/>
            <a:stretch/>
          </p:blipFill>
          <p:spPr>
            <a:xfrm>
              <a:off x="595145" y="1487424"/>
              <a:ext cx="7152381" cy="1206057"/>
            </a:xfrm>
            <a:prstGeom prst="rect">
              <a:avLst/>
            </a:prstGeom>
          </p:spPr>
        </p:pic>
        <p:pic>
          <p:nvPicPr>
            <p:cNvPr id="6" name="Image 5"/>
            <p:cNvPicPr>
              <a:picLocks noChangeAspect="1"/>
            </p:cNvPicPr>
            <p:nvPr/>
          </p:nvPicPr>
          <p:blipFill rotWithShape="1">
            <a:blip r:embed="rId3"/>
            <a:srcRect t="15447"/>
            <a:stretch/>
          </p:blipFill>
          <p:spPr>
            <a:xfrm>
              <a:off x="733143" y="2588075"/>
              <a:ext cx="7066667" cy="1256214"/>
            </a:xfrm>
            <a:prstGeom prst="rect">
              <a:avLst/>
            </a:prstGeom>
          </p:spPr>
        </p:pic>
      </p:grpSp>
      <p:pic>
        <p:nvPicPr>
          <p:cNvPr id="8" name="Imag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248" y="2943962"/>
            <a:ext cx="5147975" cy="3463053"/>
          </a:xfrm>
          <a:prstGeom prst="rect">
            <a:avLst/>
          </a:prstGeom>
        </p:spPr>
      </p:pic>
      <p:sp>
        <p:nvSpPr>
          <p:cNvPr id="9" name="ZoneTexte 8"/>
          <p:cNvSpPr txBox="1"/>
          <p:nvPr/>
        </p:nvSpPr>
        <p:spPr>
          <a:xfrm>
            <a:off x="6573402" y="544749"/>
            <a:ext cx="3167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chemeClr val="accent6">
                    <a:lumMod val="75000"/>
                  </a:schemeClr>
                </a:solidFill>
                <a:latin typeface="Maison Neue" panose="02000000000000000000" pitchFamily="2" charset="0"/>
              </a:rPr>
              <a:t>Structures rigides</a:t>
            </a:r>
            <a:endParaRPr lang="fr-FR" dirty="0">
              <a:solidFill>
                <a:schemeClr val="accent6">
                  <a:lumMod val="75000"/>
                </a:schemeClr>
              </a:solidFill>
              <a:latin typeface="Maison Neue" panose="02000000000000000000" pitchFamily="2" charset="0"/>
            </a:endParaRPr>
          </a:p>
        </p:txBody>
      </p:sp>
      <p:pic>
        <p:nvPicPr>
          <p:cNvPr id="10" name="Imag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6713" y="1054609"/>
            <a:ext cx="5295811" cy="3962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12496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1a1d82c-0992-4cb8-94d7-7f7c4d36b29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EBFA0175B84CD499F1873057EBA1484" ma:contentTypeVersion="16" ma:contentTypeDescription="Crée un document." ma:contentTypeScope="" ma:versionID="af713182e7221dd8e6b5b28ac3837aba">
  <xsd:schema xmlns:xsd="http://www.w3.org/2001/XMLSchema" xmlns:xs="http://www.w3.org/2001/XMLSchema" xmlns:p="http://schemas.microsoft.com/office/2006/metadata/properties" xmlns:ns3="e1a1d82c-0992-4cb8-94d7-7f7c4d36b294" xmlns:ns4="140a38ea-9f47-4842-81d5-06b0dd2885bf" targetNamespace="http://schemas.microsoft.com/office/2006/metadata/properties" ma:root="true" ma:fieldsID="5676d41fc277946a0ecd776292066b3f" ns3:_="" ns4:_="">
    <xsd:import namespace="e1a1d82c-0992-4cb8-94d7-7f7c4d36b294"/>
    <xsd:import namespace="140a38ea-9f47-4842-81d5-06b0dd2885bf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SearchProperties" minOccurs="0"/>
                <xsd:element ref="ns3:MediaServiceDateTaken" minOccurs="0"/>
                <xsd:element ref="ns3:MediaLengthInSeconds" minOccurs="0"/>
                <xsd:element ref="ns3:MediaServiceBillingMetadata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a1d82c-0992-4cb8-94d7-7f7c4d36b29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_activity" ma:index="10" nillable="true" ma:displayName="_activity" ma:hidden="true" ma:internalName="_activity">
      <xsd:simpleType>
        <xsd:restriction base="dms:Note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2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Location" ma:index="23" nillable="true" ma:displayName="Location" ma:description="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40a38ea-9f47-4842-81d5-06b0dd2885bf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3" nillable="true" ma:displayName="Partage du hachage d’indicateu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8A97D56-E45D-459A-BADC-382BA4C85AD7}">
  <ds:schemaRefs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purl.org/dc/elements/1.1/"/>
    <ds:schemaRef ds:uri="http://schemas.microsoft.com/office/2006/metadata/properties"/>
    <ds:schemaRef ds:uri="140a38ea-9f47-4842-81d5-06b0dd2885bf"/>
    <ds:schemaRef ds:uri="e1a1d82c-0992-4cb8-94d7-7f7c4d36b294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129DA455-99A3-45D6-8AB4-E6DB214BB79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6995176-3B9A-4366-8C5E-29937C64D05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1a1d82c-0992-4cb8-94d7-7f7c4d36b294"/>
    <ds:schemaRef ds:uri="140a38ea-9f47-4842-81d5-06b0dd2885b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4481</TotalTime>
  <Words>38</Words>
  <Application>Microsoft Office PowerPoint</Application>
  <PresentationFormat>Grand écran</PresentationFormat>
  <Paragraphs>20</Paragraphs>
  <Slides>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10" baseType="lpstr">
      <vt:lpstr>Arial</vt:lpstr>
      <vt:lpstr>Calibri</vt:lpstr>
      <vt:lpstr>Calibri Light</vt:lpstr>
      <vt:lpstr>Maison Neue</vt:lpstr>
      <vt:lpstr>Symbol</vt:lpstr>
      <vt:lpstr>Thème Office</vt:lpstr>
      <vt:lpstr>Présentation PowerPoint</vt:lpstr>
      <vt:lpstr>Présentation PowerPoint</vt:lpstr>
      <vt:lpstr>Présentation PowerPoint</vt:lpstr>
      <vt:lpstr>Présentation PowerPoint</vt:lpstr>
    </vt:vector>
  </TitlesOfParts>
  <Company>Département de la Gironde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Frederic Duhart</dc:creator>
  <cp:lastModifiedBy>Frederic Duhart</cp:lastModifiedBy>
  <cp:revision>8</cp:revision>
  <cp:lastPrinted>2025-11-09T08:12:12Z</cp:lastPrinted>
  <dcterms:created xsi:type="dcterms:W3CDTF">2025-11-04T08:03:11Z</dcterms:created>
  <dcterms:modified xsi:type="dcterms:W3CDTF">2025-11-12T07:59:02Z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0x0101006EBFA0175B84CD499F1873057EBA1484</vt:lpwstr>
  </property>
</Properties>
</file>